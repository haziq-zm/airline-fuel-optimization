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  <p:embeddedFont>
      <p:font typeface="Merriweath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Merriweather-italic.fntdata"/><Relationship Id="rId16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19633"/>
            <a:ext cx="8520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504747"/>
            <a:ext cx="4242600" cy="9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64132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719633"/>
            <a:ext cx="8520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58833"/>
            <a:ext cx="4313625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667900"/>
            <a:ext cx="3706500" cy="3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667900"/>
            <a:ext cx="4166400" cy="54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667900"/>
            <a:ext cx="8520600" cy="8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2007600"/>
            <a:ext cx="3999900" cy="4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2007600"/>
            <a:ext cx="3999900" cy="4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667900"/>
            <a:ext cx="8520600" cy="8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667900"/>
            <a:ext cx="3127500" cy="24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3187533"/>
            <a:ext cx="3127500" cy="30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1064800"/>
            <a:ext cx="6247800" cy="47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667900"/>
            <a:ext cx="3704400" cy="27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3502300"/>
            <a:ext cx="3704400" cy="12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667900"/>
            <a:ext cx="3954000" cy="54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5825333"/>
            <a:ext cx="9144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6028533"/>
            <a:ext cx="7979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1108233"/>
            <a:ext cx="5334900" cy="165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828567"/>
            <a:ext cx="5334900" cy="12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ctrTitle"/>
          </p:nvPr>
        </p:nvSpPr>
        <p:spPr>
          <a:xfrm>
            <a:off x="-959425" y="223885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Airline Fuel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</a:t>
            </a:r>
            <a:r>
              <a:rPr lang="en-US"/>
              <a:t>er</a:t>
            </a:r>
            <a:endParaRPr/>
          </a:p>
        </p:txBody>
      </p:sp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4907400" y="5654100"/>
            <a:ext cx="4236600" cy="12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100">
                <a:solidFill>
                  <a:schemeClr val="accent3"/>
                </a:solidFill>
              </a:rPr>
              <a:t>Haziq Zubair</a:t>
            </a:r>
            <a:endParaRPr sz="2100"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100">
                <a:solidFill>
                  <a:schemeClr val="accent3"/>
                </a:solidFill>
              </a:rPr>
              <a:t>15-02-2026</a:t>
            </a:r>
            <a:endParaRPr sz="2100">
              <a:solidFill>
                <a:schemeClr val="accent3"/>
              </a:solidFill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154135">
            <a:off x="6841850" y="1513950"/>
            <a:ext cx="1792849" cy="1792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 &amp; Objective</a:t>
            </a:r>
            <a:endParaRPr sz="3700"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457200" y="23320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Problem:</a:t>
            </a:r>
            <a:endParaRPr b="1" sz="2400"/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Airlines face high fuel costs and operational inefficiencies.</a:t>
            </a:r>
            <a:endParaRPr sz="2400"/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Fuel burn varies based on altitude and weather.</a:t>
            </a:r>
            <a:endParaRPr sz="24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Objective:</a:t>
            </a:r>
            <a:endParaRPr b="1" sz="2400"/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uild a POC system to analyze flight data.</a:t>
            </a:r>
            <a:endParaRPr sz="2400"/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 fuel burn under different cruise altitudes.</a:t>
            </a:r>
            <a:endParaRPr sz="2400"/>
          </a:p>
          <a:p>
            <a:pPr indent="-2921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 optimal altitude for fuel savings.</a:t>
            </a:r>
            <a:endParaRPr sz="2400"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002959">
            <a:off x="6090226" y="441625"/>
            <a:ext cx="4572000" cy="202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1644" y="2766900"/>
            <a:ext cx="768149" cy="46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6275" y="3306325"/>
            <a:ext cx="547675" cy="5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3169950" y="2072975"/>
            <a:ext cx="2804100" cy="579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Flight Data (CSV)</a:t>
            </a:r>
            <a:endParaRPr sz="20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3169950" y="2956900"/>
            <a:ext cx="2804100" cy="579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Weather Simulation</a:t>
            </a:r>
            <a:endParaRPr sz="20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169950" y="3840825"/>
            <a:ext cx="2804100" cy="579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Fuel Estimation</a:t>
            </a:r>
            <a:endParaRPr sz="20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3169950" y="4724750"/>
            <a:ext cx="2804100" cy="579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Altitude Optimization</a:t>
            </a:r>
            <a:endParaRPr sz="20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3169950" y="5608675"/>
            <a:ext cx="2804100" cy="883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MCP Recommendation Output</a:t>
            </a:r>
            <a:endParaRPr sz="20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16"/>
          <p:cNvCxnSpPr>
            <a:stCxn id="87" idx="2"/>
            <a:endCxn id="88" idx="0"/>
          </p:cNvCxnSpPr>
          <p:nvPr/>
        </p:nvCxnSpPr>
        <p:spPr>
          <a:xfrm>
            <a:off x="4572000" y="265197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6"/>
          <p:cNvCxnSpPr>
            <a:stCxn id="88" idx="2"/>
            <a:endCxn id="89" idx="0"/>
          </p:cNvCxnSpPr>
          <p:nvPr/>
        </p:nvCxnSpPr>
        <p:spPr>
          <a:xfrm>
            <a:off x="4572000" y="35359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6"/>
          <p:cNvCxnSpPr>
            <a:stCxn id="89" idx="2"/>
            <a:endCxn id="90" idx="0"/>
          </p:cNvCxnSpPr>
          <p:nvPr/>
        </p:nvCxnSpPr>
        <p:spPr>
          <a:xfrm>
            <a:off x="4572000" y="441982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6"/>
          <p:cNvCxnSpPr>
            <a:stCxn id="90" idx="2"/>
            <a:endCxn id="91" idx="0"/>
          </p:cNvCxnSpPr>
          <p:nvPr/>
        </p:nvCxnSpPr>
        <p:spPr>
          <a:xfrm>
            <a:off x="4572000" y="530375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Fuel Optimization Logic</a:t>
            </a:r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flight distance and aircraft performance dat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Simulate weather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 fuel burn using:</a:t>
            </a:r>
            <a:endParaRPr sz="2500"/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Fuel = Distance × BaseBurn × Adjustment Factors</a:t>
            </a:r>
            <a:endParaRPr sz="2300"/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87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multiple cruise altitudes.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altitude with lowest estimated fuel burn.</a:t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Results, Limitations &amp; Future Improvements</a:t>
            </a:r>
            <a:endParaRPr/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Results:</a:t>
            </a:r>
            <a:endParaRPr b="1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Generates altitude recommendation.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Estimates projected fuel savings.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Limitations:</a:t>
            </a:r>
            <a:endParaRPr b="1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Simplified weather model.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enroute segmentation or real wind data.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cost-index optimization.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 full AWS orchestration.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